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PROYECTO FINAL: LP2-ZOOM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Integrantes: Marco Huanca, Jonathan Leon, Jeanpier Robles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Docente: Yan Eduardo Cisneros Napravnik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CAPÍTULO 1: INTRODUCCIÓN Y ARQUITECTURA DE RED (Expositor: Marco Huanca)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LP2-Zoom: Prototipo Académico de Videoconferencia y Mensajería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Desafío Principal:</a:t>
            </a:r>
            <a:r>
              <a:rPr/>
              <a:t> Construcción de un sistema distribuido multicliente de tiempo real.</a:t>
            </a:r>
          </a:p>
          <a:p>
            <a:pPr lvl="0"/>
            <a:r>
              <a:rPr b="1"/>
              <a:t>Fundamentos de Red:</a:t>
            </a:r>
            <a:r>
              <a:rPr/>
              <a:t> Comunicación directa sobre Sockets TCP nativos en Java SE.</a:t>
            </a:r>
          </a:p>
          <a:p>
            <a:pPr lvl="0"/>
            <a:r>
              <a:rPr b="1"/>
              <a:t>Concurrencia Manual:</a:t>
            </a:r>
            <a:r>
              <a:rPr/>
              <a:t> Gestión de flujos de datos sin frameworks comerciales de alto nivel.</a:t>
            </a:r>
          </a:p>
          <a:p>
            <a:pPr lvl="0"/>
            <a:r>
              <a:rPr b="1"/>
              <a:t>Aislamiento Seguro:</a:t>
            </a:r>
            <a:r>
              <a:rPr/>
              <a:t> Integración con base de datos PostgreSQL remota (Supabase).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Regla de Oro de la Arquitectura (Aislamiento de Persistencia)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Principio:</a:t>
            </a:r>
            <a:r>
              <a:rPr/>
              <a:t> El cliente jamás realiza conexiones directas JDBC a la base de datos.</a:t>
            </a:r>
          </a:p>
          <a:p>
            <a:pPr lvl="0"/>
            <a:r>
              <a:rPr b="1"/>
              <a:t>Justificación:</a:t>
            </a:r>
          </a:p>
          <a:p>
            <a:pPr lvl="1" indent="-342900" marL="685800">
              <a:buAutoNum type="arabicPeriod"/>
            </a:pPr>
            <a:r>
              <a:rPr i="1"/>
              <a:t>Seguridad:</a:t>
            </a:r>
            <a:r>
              <a:rPr/>
              <a:t> Evita la exposición de credenciales mediante ingeniería inversa/descompilación.</a:t>
            </a:r>
          </a:p>
          <a:p>
            <a:pPr lvl="1" indent="-342900" marL="685800">
              <a:buAutoNum type="arabicPeriod"/>
            </a:pPr>
            <a:r>
              <a:rPr i="1"/>
              <a:t>Modularidad:</a:t>
            </a:r>
            <a:r>
              <a:rPr/>
              <a:t> Los cambios en el motor de persistencia se aíslan al backend.</a:t>
            </a:r>
          </a:p>
          <a:p>
            <a:pPr lvl="1" indent="-342900" marL="685800">
              <a:buAutoNum type="arabicPeriod"/>
            </a:pPr>
            <a:r>
              <a:rPr i="1"/>
              <a:t>Control de Reglas de Negocio:</a:t>
            </a:r>
            <a:r>
              <a:rPr/>
              <a:t> Validación centralizada en el servidor de sockets.</a:t>
            </a:r>
          </a:p>
        </p:txBody>
      </p:sp>
      <p:pic>
        <p:nvPicPr>
          <p:cNvPr descr="images/vista_gener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203200"/>
            <a:ext cx="2984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Arquitectura del Cliente (Threading y Event Dispatch Thread)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Reto Gráfico (Swing):</a:t>
            </a:r>
            <a:r>
              <a:rPr/>
              <a:t> El EDT es monocanal. Operaciones bloqueantes de red congelan la UI.</a:t>
            </a:r>
          </a:p>
          <a:p>
            <a:pPr lvl="0"/>
            <a:r>
              <a:rPr b="1"/>
              <a:t>Solución implementada:</a:t>
            </a:r>
          </a:p>
          <a:p>
            <a:pPr lvl="1"/>
            <a:r>
              <a:rPr i="1"/>
              <a:t>Hilo de Escucha (Background):</a:t>
            </a:r>
            <a:r>
              <a:rPr/>
              <a:t> Lee de forma asíncrona y bloqueante el stream del socket.</a:t>
            </a:r>
          </a:p>
          <a:p>
            <a:pPr lvl="1"/>
            <a:r>
              <a:rPr i="1"/>
              <a:t>Actualización del EDT:</a:t>
            </a:r>
            <a:r>
              <a:rPr/>
              <a:t> Delegada mediante </a:t>
            </a:r>
            <a:r>
              <a:rPr>
                <a:latin typeface="Courier"/>
              </a:rPr>
              <a:t>SwingUtilities.invokeLater(...)</a:t>
            </a:r>
            <a:r>
              <a:rPr/>
              <a:t>.</a:t>
            </a:r>
          </a:p>
          <a:p>
            <a:pPr lvl="1"/>
            <a:r>
              <a:rPr i="1"/>
              <a:t>Patrón Observer:</a:t>
            </a:r>
            <a:r>
              <a:rPr/>
              <a:t> Notificaciones asíncronas vía callback (</a:t>
            </a:r>
            <a:r>
              <a:rPr>
                <a:latin typeface="Courier"/>
              </a:rPr>
              <a:t>MensajeListener</a:t>
            </a:r>
            <a:r>
              <a:rPr/>
              <a:t>).</a:t>
            </a:r>
          </a:p>
          <a:p>
            <a:pPr lvl="1"/>
            <a:r>
              <a:rPr i="1"/>
              <a:t>Decodificación de Video:</a:t>
            </a:r>
            <a:r>
              <a:rPr/>
              <a:t> Delegada a un pool concurrente secundario daemon.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Arquitectura del Servidor (ServerSocket y CachedThreadPool)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Escucha del Servidor:</a:t>
            </a:r>
            <a:r>
              <a:rPr/>
              <a:t> Bucle principal bloqueante en </a:t>
            </a:r>
            <a:r>
              <a:rPr>
                <a:latin typeface="Courier"/>
              </a:rPr>
              <a:t>serverSocket.accept()</a:t>
            </a:r>
            <a:r>
              <a:rPr/>
              <a:t> (Puerto 5000).</a:t>
            </a:r>
          </a:p>
          <a:p>
            <a:pPr lvl="0"/>
            <a:r>
              <a:rPr b="1"/>
              <a:t>Concurrencia Multicliente:</a:t>
            </a:r>
          </a:p>
          <a:p>
            <a:pPr lvl="1"/>
            <a:r>
              <a:rPr/>
              <a:t>Uso de </a:t>
            </a:r>
            <a:r>
              <a:rPr>
                <a:latin typeface="Courier"/>
              </a:rPr>
              <a:t>Executors.newCachedThreadPool()</a:t>
            </a:r>
            <a:r>
              <a:rPr/>
              <a:t> para gestionar hilos de forma dinámica.</a:t>
            </a:r>
          </a:p>
          <a:p>
            <a:pPr lvl="1"/>
            <a:r>
              <a:rPr/>
              <a:t>Creación dinámica de un hilo por cada socket cliente físico (</a:t>
            </a:r>
            <a:r>
              <a:rPr>
                <a:latin typeface="Courier"/>
              </a:rPr>
              <a:t>ManejadorCliente</a:t>
            </a:r>
            <a:r>
              <a:rPr/>
              <a:t>).</a:t>
            </a:r>
          </a:p>
          <a:p>
            <a:pPr lvl="1"/>
            <a:r>
              <a:rPr/>
              <a:t>Reutilización de hilos inactivos y destrucción tras 60 segundos de inactividad.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CAPÍTULO 2: PATRONES DE DISEÑO Y ESTRUCTURA UML (Expositor: Jonathan Leon)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Patrones de Diseño Aplicados (Creacionales y Comportamiento)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Singleton (</a:t>
            </a:r>
            <a:r>
              <a:rPr b="1">
                <a:latin typeface="Courier"/>
              </a:rPr>
              <a:t>ClienteConexion</a:t>
            </a:r>
            <a:r>
              <a:rPr b="1"/>
              <a:t>):</a:t>
            </a:r>
          </a:p>
          <a:p>
            <a:pPr lvl="1"/>
            <a:r>
              <a:rPr/>
              <a:t>Asegura un único canal físico TCP abierto durante el ciclo de vida del cliente.</a:t>
            </a:r>
          </a:p>
          <a:p>
            <a:pPr lvl="0"/>
            <a:r>
              <a:rPr b="1"/>
              <a:t>Factory Method y Strategy (</a:t>
            </a:r>
            <a:r>
              <a:rPr b="1">
                <a:latin typeface="Courier"/>
              </a:rPr>
              <a:t>CameraCreator</a:t>
            </a:r>
            <a:r>
              <a:rPr b="1"/>
              <a:t> &amp; </a:t>
            </a:r>
            <a:r>
              <a:rPr b="1">
                <a:latin typeface="Courier"/>
              </a:rPr>
              <a:t>CameraStrategy</a:t>
            </a:r>
            <a:r>
              <a:rPr b="1"/>
              <a:t>):</a:t>
            </a:r>
          </a:p>
          <a:p>
            <a:pPr lvl="1"/>
            <a:r>
              <a:rPr/>
              <a:t>Desacopla la captura física (webcam) de la simulación de video en fallback.</a:t>
            </a:r>
          </a:p>
          <a:p>
            <a:pPr lvl="0"/>
            <a:r>
              <a:rPr b="1"/>
              <a:t>Memento (</a:t>
            </a:r>
            <a:r>
              <a:rPr b="1">
                <a:latin typeface="Courier"/>
              </a:rPr>
              <a:t>ChatInputMemento</a:t>
            </a:r>
            <a:r>
              <a:rPr b="1"/>
              <a:t> &amp; </a:t>
            </a:r>
            <a:r>
              <a:rPr b="1">
                <a:latin typeface="Courier"/>
              </a:rPr>
              <a:t>ChatHistoryCaretaker</a:t>
            </a:r>
            <a:r>
              <a:rPr b="1"/>
              <a:t>):</a:t>
            </a:r>
          </a:p>
          <a:p>
            <a:pPr lvl="1"/>
            <a:r>
              <a:rPr/>
              <a:t>Captura e introduce historial de borradores en la caja de chat con las flechas direccionales.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Patrones de Diseño Aplicados (Estructurales)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Proxy (</a:t>
            </a:r>
            <a:r>
              <a:rPr b="1">
                <a:latin typeface="Courier"/>
              </a:rPr>
              <a:t>DBProxy</a:t>
            </a:r>
            <a:r>
              <a:rPr b="1"/>
              <a:t> &amp; </a:t>
            </a:r>
            <a:r>
              <a:rPr b="1">
                <a:latin typeface="Courier"/>
              </a:rPr>
              <a:t>CameraProxy</a:t>
            </a:r>
            <a:r>
              <a:rPr b="1"/>
              <a:t>):</a:t>
            </a:r>
          </a:p>
          <a:p>
            <a:pPr lvl="1"/>
            <a:r>
              <a:rPr i="1"/>
              <a:t>Virtual/Lazy-load Proxy:</a:t>
            </a:r>
            <a:r>
              <a:rPr/>
              <a:t> Carga la conexión JDBC solo en la primera consulta.</a:t>
            </a:r>
          </a:p>
          <a:p>
            <a:pPr lvl="1"/>
            <a:r>
              <a:rPr i="1"/>
              <a:t>Logging Proxy:</a:t>
            </a:r>
            <a:r>
              <a:rPr/>
              <a:t> Audita y registra las transacciones en la consola.</a:t>
            </a:r>
          </a:p>
          <a:p>
            <a:pPr lvl="1"/>
            <a:r>
              <a:rPr i="1"/>
              <a:t>Fallback Proxy:</a:t>
            </a:r>
            <a:r>
              <a:rPr/>
              <a:t> Conmutación automática a cámara simulada si falla el hardware.</a:t>
            </a:r>
          </a:p>
          <a:p>
            <a:pPr lvl="0"/>
            <a:r>
              <a:rPr b="1"/>
              <a:t>Bridge (</a:t>
            </a:r>
            <a:r>
              <a:rPr b="1">
                <a:latin typeface="Courier"/>
              </a:rPr>
              <a:t>ProtocolBridge</a:t>
            </a:r>
            <a:r>
              <a:rPr b="1"/>
              <a:t>):</a:t>
            </a:r>
          </a:p>
          <a:p>
            <a:pPr lvl="1"/>
            <a:r>
              <a:rPr/>
              <a:t>Separa la capa de red del formato de serialización (conversión JSON con Gson).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Diagrama de Clases UML del Proyecto</a:t>
            </a:r>
          </a:p>
        </p:txBody>
      </p:sp>
      <p:pic>
        <p:nvPicPr>
          <p:cNvPr descr="images/clas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22400"/>
            <a:ext cx="8229600" cy="2946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Diagrama de Secuencia (Sala de Espera y Moderación)</a:t>
            </a:r>
          </a:p>
        </p:txBody>
      </p:sp>
      <p:pic>
        <p:nvPicPr>
          <p:cNvPr descr="images/secuenci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33600" y="1193800"/>
            <a:ext cx="4876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CAPÍTULO 3: BASE DE DATOS, PROTOCOLO Y CONCLUSIONES (Expositor: Jeanpier Robles)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Diseño de Base de Datos (Modelo Entidad-Relación)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Tablas Principales:</a:t>
            </a:r>
            <a:r>
              <a:rPr/>
              <a:t> </a:t>
            </a:r>
            <a:r>
              <a:rPr>
                <a:latin typeface="Courier"/>
              </a:rPr>
              <a:t>Usuarios</a:t>
            </a:r>
            <a:r>
              <a:rPr/>
              <a:t>, </a:t>
            </a:r>
            <a:r>
              <a:rPr>
                <a:latin typeface="Courier"/>
              </a:rPr>
              <a:t>Salas</a:t>
            </a:r>
            <a:r>
              <a:rPr/>
              <a:t>, </a:t>
            </a:r>
            <a:r>
              <a:rPr>
                <a:latin typeface="Courier"/>
              </a:rPr>
              <a:t>ParticipantesSala</a:t>
            </a:r>
            <a:r>
              <a:rPr/>
              <a:t>, </a:t>
            </a:r>
            <a:r>
              <a:rPr>
                <a:latin typeface="Courier"/>
              </a:rPr>
              <a:t>SolicitudesSala</a:t>
            </a:r>
            <a:r>
              <a:rPr/>
              <a:t>, </a:t>
            </a:r>
            <a:r>
              <a:rPr>
                <a:latin typeface="Courier"/>
              </a:rPr>
              <a:t>Mensajes</a:t>
            </a:r>
            <a:r>
              <a:rPr/>
              <a:t>, </a:t>
            </a:r>
            <a:r>
              <a:rPr>
                <a:latin typeface="Courier"/>
              </a:rPr>
              <a:t>ArchivosCompartidos</a:t>
            </a:r>
            <a:r>
              <a:rPr/>
              <a:t>.</a:t>
            </a:r>
          </a:p>
          <a:p>
            <a:pPr lvl="0"/>
            <a:r>
              <a:rPr b="1"/>
              <a:t>Integridad y Seguridad:</a:t>
            </a:r>
          </a:p>
          <a:p>
            <a:pPr lvl="1"/>
            <a:r>
              <a:rPr/>
              <a:t>Borrado en cascada (</a:t>
            </a:r>
            <a:r>
              <a:rPr>
                <a:latin typeface="Courier"/>
              </a:rPr>
              <a:t>ON DELETE CASCADE</a:t>
            </a:r>
            <a:r>
              <a:rPr/>
              <a:t>) para prevenir registros huérfanos.</a:t>
            </a:r>
          </a:p>
          <a:p>
            <a:pPr lvl="1"/>
            <a:r>
              <a:rPr/>
              <a:t>Restricciones únicas para colas de admisión y sesiones concurrentes.</a:t>
            </a:r>
          </a:p>
        </p:txBody>
      </p:sp>
      <p:pic>
        <p:nvPicPr>
          <p:cNvPr descr="images/modelo_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73100"/>
            <a:ext cx="5105400" cy="345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Protocolo de Mensajería sobre Sockets (Trama JSON)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Estructura Estándar (</a:t>
            </a:r>
            <a:r>
              <a:rPr b="1">
                <a:latin typeface="Courier"/>
              </a:rPr>
              <a:t>MensajeSocket</a:t>
            </a:r>
            <a:r>
              <a:rPr b="1"/>
              <a:t>):</a:t>
            </a:r>
            <a:r>
              <a:rPr/>
              <a:t> Contrato común en formato JSON.</a:t>
            </a:r>
          </a:p>
          <a:p>
            <a:pPr lvl="1"/>
            <a:r>
              <a:rPr/>
              <a:t>Campos: </a:t>
            </a:r>
            <a:r>
              <a:rPr>
                <a:latin typeface="Courier"/>
              </a:rPr>
              <a:t>type</a:t>
            </a:r>
            <a:r>
              <a:rPr/>
              <a:t>, </a:t>
            </a:r>
            <a:r>
              <a:rPr>
                <a:latin typeface="Courier"/>
              </a:rPr>
              <a:t>roomCode</a:t>
            </a:r>
            <a:r>
              <a:rPr/>
              <a:t>, </a:t>
            </a:r>
            <a:r>
              <a:rPr>
                <a:latin typeface="Courier"/>
              </a:rPr>
              <a:t>userId</a:t>
            </a:r>
            <a:r>
              <a:rPr/>
              <a:t>, </a:t>
            </a:r>
            <a:r>
              <a:rPr>
                <a:latin typeface="Courier"/>
              </a:rPr>
              <a:t>userName</a:t>
            </a:r>
            <a:r>
              <a:rPr/>
              <a:t>, </a:t>
            </a:r>
            <a:r>
              <a:rPr>
                <a:latin typeface="Courier"/>
              </a:rPr>
              <a:t>message</a:t>
            </a:r>
            <a:r>
              <a:rPr/>
              <a:t>, </a:t>
            </a:r>
            <a:r>
              <a:rPr>
                <a:latin typeface="Courier"/>
              </a:rPr>
              <a:t>sentAt</a:t>
            </a:r>
            <a:r>
              <a:rPr/>
              <a:t>.</a:t>
            </a:r>
          </a:p>
          <a:p>
            <a:pPr lvl="0"/>
            <a:r>
              <a:rPr b="1"/>
              <a:t>Flujo de Archivos Fragmentados:</a:t>
            </a:r>
          </a:p>
          <a:p>
            <a:pPr lvl="1"/>
            <a:r>
              <a:rPr/>
              <a:t>Transferencia segmentada en chunks codificados en Base64.</a:t>
            </a:r>
          </a:p>
          <a:p>
            <a:pPr lvl="1"/>
            <a:r>
              <a:rPr/>
              <a:t>Previene desbordamiento de memoria de la JVM.</a:t>
            </a:r>
          </a:p>
          <a:p>
            <a:pPr lvl="0"/>
            <a:r>
              <a:rPr b="1"/>
              <a:t>Flujo de Video:</a:t>
            </a:r>
          </a:p>
          <a:p>
            <a:pPr lvl="1"/>
            <a:r>
              <a:rPr/>
              <a:t>Transmisión continua de fotogramas (frames codificados) a través del canal de chat de video.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Tolerancia a Fallos y 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Manejo de Desconexión Abrupta:</a:t>
            </a:r>
          </a:p>
          <a:p>
            <a:pPr lvl="1"/>
            <a:r>
              <a:rPr/>
              <a:t>Cierre físico del socket, liberación de memoria en el servidor.</a:t>
            </a:r>
          </a:p>
          <a:p>
            <a:pPr lvl="1"/>
            <a:r>
              <a:rPr/>
              <a:t>Actualización automática de la BD a estado </a:t>
            </a:r>
            <a:r>
              <a:rPr>
                <a:latin typeface="Courier"/>
              </a:rPr>
              <a:t>SALIÓ</a:t>
            </a:r>
            <a:r>
              <a:rPr/>
              <a:t> y notificación general a la sala.</a:t>
            </a:r>
          </a:p>
          <a:p>
            <a:pPr lvl="0"/>
            <a:r>
              <a:rPr b="1"/>
              <a:t>Conclusiones del Proyecto:</a:t>
            </a:r>
          </a:p>
          <a:p>
            <a:pPr lvl="1" indent="-342900" marL="685800">
              <a:buAutoNum type="arabicPeriod"/>
            </a:pPr>
            <a:r>
              <a:rPr i="1"/>
              <a:t>Modularidad:</a:t>
            </a:r>
            <a:r>
              <a:rPr/>
              <a:t> Los patrones de diseño estructuran código escalable y reutilizable.</a:t>
            </a:r>
          </a:p>
          <a:p>
            <a:pPr lvl="1" indent="-342900" marL="685800">
              <a:buAutoNum type="arabicPeriod"/>
            </a:pPr>
            <a:r>
              <a:rPr i="1"/>
              <a:t>Seguridad Industrial:</a:t>
            </a:r>
            <a:r>
              <a:rPr/>
              <a:t> El aislamiento de BD previene la fuga de credenciales.</a:t>
            </a:r>
          </a:p>
          <a:p>
            <a:pPr lvl="0"/>
            <a:r>
              <a:rPr b="1"/>
              <a:t>Trabajo Futuro:</a:t>
            </a:r>
            <a:r>
              <a:rPr/>
              <a:t> Transición a streams nativos de video RTP/RTSP.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FINAL: LP2-ZOOM</dc:title>
  <dc:creator>Integrantes: Marco Huanca, Jonathan Leon, Jeanpier Robles</dc:creator>
  <cp:keywords/>
  <dcterms:created xsi:type="dcterms:W3CDTF">2026-06-26T20:37:05Z</dcterms:created>
  <dcterms:modified xsi:type="dcterms:W3CDTF">2026-06-26T20:37:05Z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Docente: Yan Eduardo Cisneros Napravnik</vt:lpwstr>
  </property>
</Properties>
</file>