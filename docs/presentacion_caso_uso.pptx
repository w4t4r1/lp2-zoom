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Huanca Achahui" userId="fe3e0c75cde59f37" providerId="LiveId" clId="{F8E649DE-2311-4D39-9FEB-535F15C0CA1C}"/>
    <pc:docChg chg="custSel modSld">
      <pc:chgData name="Marco Huanca Achahui" userId="fe3e0c75cde59f37" providerId="LiveId" clId="{F8E649DE-2311-4D39-9FEB-535F15C0CA1C}" dt="2026-07-01T01:05:30.596" v="16" actId="20577"/>
      <pc:docMkLst>
        <pc:docMk/>
      </pc:docMkLst>
      <pc:sldChg chg="modSp mod">
        <pc:chgData name="Marco Huanca Achahui" userId="fe3e0c75cde59f37" providerId="LiveId" clId="{F8E649DE-2311-4D39-9FEB-535F15C0CA1C}" dt="2026-07-01T01:05:30.596" v="16" actId="20577"/>
        <pc:sldMkLst>
          <pc:docMk/>
          <pc:sldMk cId="0" sldId="256"/>
        </pc:sldMkLst>
        <pc:spChg chg="mod">
          <ac:chgData name="Marco Huanca Achahui" userId="fe3e0c75cde59f37" providerId="LiveId" clId="{F8E649DE-2311-4D39-9FEB-535F15C0CA1C}" dt="2026-07-01T01:05:24.622" v="5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rco Huanca Achahui" userId="fe3e0c75cde59f37" providerId="LiveId" clId="{F8E649DE-2311-4D39-9FEB-535F15C0CA1C}" dt="2026-07-01T01:05:30.596" v="16" actId="20577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Marco Huanca Achahui" userId="fe3e0c75cde59f37" providerId="LiveId" clId="{F8E649DE-2311-4D39-9FEB-535F15C0CA1C}" dt="2026-07-01T01:04:12.716" v="0" actId="478"/>
        <pc:sldMkLst>
          <pc:docMk/>
          <pc:sldMk cId="0" sldId="257"/>
        </pc:sldMkLst>
        <pc:spChg chg="del">
          <ac:chgData name="Marco Huanca Achahui" userId="fe3e0c75cde59f37" providerId="LiveId" clId="{F8E649DE-2311-4D39-9FEB-535F15C0CA1C}" dt="2026-07-01T01:04:12.716" v="0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Marco Huanca Achahui" userId="fe3e0c75cde59f37" providerId="LiveId" clId="{F8E649DE-2311-4D39-9FEB-535F15C0CA1C}" dt="2026-07-01T01:04:17.565" v="3" actId="478"/>
        <pc:sldMkLst>
          <pc:docMk/>
          <pc:sldMk cId="0" sldId="258"/>
        </pc:sldMkLst>
        <pc:spChg chg="del mod">
          <ac:chgData name="Marco Huanca Achahui" userId="fe3e0c75cde59f37" providerId="LiveId" clId="{F8E649DE-2311-4D39-9FEB-535F15C0CA1C}" dt="2026-07-01T01:04:17.565" v="3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">
        <pc:chgData name="Marco Huanca Achahui" userId="fe3e0c75cde59f37" providerId="LiveId" clId="{F8E649DE-2311-4D39-9FEB-535F15C0CA1C}" dt="2026-07-01T01:04:16.182" v="2" actId="478"/>
        <pc:sldMkLst>
          <pc:docMk/>
          <pc:sldMk cId="0" sldId="259"/>
        </pc:sldMkLst>
        <pc:spChg chg="del">
          <ac:chgData name="Marco Huanca Achahui" userId="fe3e0c75cde59f37" providerId="LiveId" clId="{F8E649DE-2311-4D39-9FEB-535F15C0CA1C}" dt="2026-07-01T01:04:16.182" v="2" actId="478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108200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Helvetica"/>
              </a:defRPr>
            </a:pPr>
            <a:r>
              <a:t>LP2-ZOOM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1" y="2926080"/>
            <a:ext cx="5882148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F1F5F9"/>
                </a:solidFill>
                <a:latin typeface="Helvetica"/>
              </a:defRPr>
            </a:pPr>
            <a:r>
              <a:rPr dirty="0"/>
              <a:t>Caso de Uso Principal: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Admisión</a:t>
            </a:r>
            <a:r>
              <a:rPr dirty="0"/>
              <a:t> y </a:t>
            </a:r>
            <a:r>
              <a:rPr dirty="0" err="1"/>
              <a:t>Videoconferencia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1082009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Helvetica"/>
              </a:defRPr>
            </a:pPr>
            <a:r>
              <a:rPr lang="es-PE" sz="1600" dirty="0"/>
              <a:t>Integrantes</a:t>
            </a:r>
            <a:r>
              <a:rPr sz="1600" dirty="0"/>
              <a:t>: Marco Huanca, Jonathan Leon, </a:t>
            </a:r>
            <a:r>
              <a:rPr sz="1600" dirty="0" err="1"/>
              <a:t>Jeanpier</a:t>
            </a:r>
            <a:r>
              <a:rPr sz="1600" dirty="0"/>
              <a:t> Robles</a:t>
            </a:r>
            <a:br>
              <a:rPr sz="1600" dirty="0"/>
            </a:br>
            <a:r>
              <a:rPr sz="1600" dirty="0" err="1"/>
              <a:t>Curso</a:t>
            </a:r>
            <a:r>
              <a:rPr sz="1600" dirty="0"/>
              <a:t>: </a:t>
            </a:r>
            <a:r>
              <a:rPr sz="1600" dirty="0" err="1"/>
              <a:t>Lenguaje</a:t>
            </a:r>
            <a:r>
              <a:rPr sz="1600" dirty="0"/>
              <a:t> de </a:t>
            </a:r>
            <a:r>
              <a:rPr sz="1600" dirty="0" err="1"/>
              <a:t>Programación</a:t>
            </a:r>
            <a:r>
              <a:rPr sz="1600" dirty="0"/>
              <a:t> II (SW403-U)</a:t>
            </a:r>
            <a:br>
              <a:rPr sz="1600" dirty="0"/>
            </a:br>
            <a:r>
              <a:rPr sz="1600" dirty="0"/>
              <a:t>Universidad Nacional de Ingeniería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1. Introducción al Caso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Integración Completa: Conecta el cliente visual Swing, el protocolo por sockets, el pool concurrente del servidor y la base de datos Supabase.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Gestión de Estados: Modela la transición interactiva desde la solicitud en espera hasta la videoconferencia activa.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Regla de Oro de Seguridad: Demuestra la contención de persistencia en el backend sin exponer accesos JDBC en 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2. Regla de Oro: Aislamiento de Persistencia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Principio: El cliente Swing jamás se conecta directamente a PostgreSQL (Supabase) ni maneja credenciales de la BD.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Flujo de Datos Seguro: Toda consulta de moderación, chat o archivos viaja cifrada en tramas JSON por sockets TCP.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Middleware Servidor: El servidor de sockets ejecuta las consultas y el hashing de contraseñas de manera centralizada.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3. Diagrama de Casos de Uso (UML General)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Actor Anfitrión (Host): Puede Crear Sala, Moderar Invitados (Admitir/Rechazar), Iniciar Reunión Oficial y transmitir Video/Chat.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Actor Invitado (Guest): Puede Unirse con Código, esperar admisión y transmitir Video/Chat una vez admitido.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Servidor de Sockets: Orquesta de manera centralizada la validación e intercambio de tramas de todos los participantes.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4. El Protocolo: Tramas JSON sobre Sockets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Estructura Base (MensajeSocket): Contrato común unificado para agrupar metadatos del transporte.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type: Identificador de acción (JOIN_ROOM_REQUEST, ADMIT_USER, MEETING_STARTED, etc.).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roomCode: Código de 6 dígitos que identifica la reunión activa.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userId y userName: Identificación del emisor.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message: Payload de datos (texto, chunk Base64 o comandos).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5. Diagrama de Secuencia: Admisión y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Handshake de Unión: Invitado envía JOIN_ROOM_REQUEST; el servidor registra estado PENDIENTE en Supabase.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Notificación y Moderación: Servidor envía WAITING_ROOM_UPDATE al Host; Host responde con ADMIT_USER (ACCEPTED).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Inicio de Sesión: Host envía START_MEETING_REQUEST; el servidor difunde MEETING_STARTED, conmutando a ambos a REUNION.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6. Diagrama de Actividades: Flujo del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Inicio: Validación de login y registro en Supabase con hash SHA-256.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Bifurcación de Roles: Host genera código y abre sala de espera; Invitado introduce código y espera en cola.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Reunión Activa: Concurrencia de hilos para chat, cámara (webcam física/fallbacks) y compartición de archivos en Base64.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7. Diagrama de Estados (CardLayout de Pantallas)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SELECTOR: Panel inicial para login y selección de acción (Crear o Unirse).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HOST_WAITING: Panel exclusivo del Host con la lista de solicitudes pendientes en tiempo real.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GUEST_PENDING: Pantalla de bloqueo del invitado mientras espera la decisión del Host.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REUNION: Panel unificado con chat activo, grid de cámaras y panel de archivos.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8. Patrones de Diseño en la Admisión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Singleton (ClienteConexion): Garantiza una sola instancia de conexión física abierta.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Bridge (ProtocolBridge): Desacopla la red física de la serialización JSON (con biblioteca Gson).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Proxy de Persistencia (DBProxy): Inicialización diferida (Lazy Loading) de Supabase y auditoría (Logging Proxy).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Proxy de Cámara (CameraProxy): Fallback automático transparente a cámara simulada si falla el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9. Arquitectura de Hilos (Swing EDT vs 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Conflicto de Bloqueo: El hilo gráfico (EDT) es monocanal y no debe realizar operaciones de red bloqueantes.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Solución Asíncrona: HiloEscuchaCliente lee de red en segundo plano y empuja cambios con SwingUtilities.invokeLater().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Decodificación Concurrente: Pool de hilos daemon (videoDecoderExecutor) para decodificar Base64 de forma asíncrona.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10. Tolerancia a Fallos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Limpieza de Desconexiones: Servidor captura I/O exceptions, cierra sockets, actualiza Supabase a SALIÓ y limpia frames de video.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Conclusiones: El uso de Sockets TCP nativos proporciona control a bajo nivel sobre hilos y streams.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Helvetica"/>
              </a:defRPr>
            </a:pPr>
            <a:r>
              <a:t>•  Modularidad: La combinación de patrones de diseño dota al sistema de robustez y seguridad a nivel industrial.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827</Words>
  <Application>Microsoft Office PowerPoint</Application>
  <PresentationFormat>Panorámica</PresentationFormat>
  <Paragraphs>54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Huanca Achahui</cp:lastModifiedBy>
  <cp:revision>1</cp:revision>
  <dcterms:created xsi:type="dcterms:W3CDTF">2013-01-27T09:14:16Z</dcterms:created>
  <dcterms:modified xsi:type="dcterms:W3CDTF">2026-07-01T01:05:32Z</dcterms:modified>
  <cp:category/>
</cp:coreProperties>
</file>