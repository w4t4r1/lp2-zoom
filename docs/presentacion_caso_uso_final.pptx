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82009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600" b="1">
                <a:solidFill>
                  <a:srgbClr val="38BDF8"/>
                </a:solidFill>
                <a:latin typeface="Helvetica"/>
              </a:defRPr>
            </a:pPr>
            <a:r>
              <a:t>LP2-ZOOM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926080"/>
            <a:ext cx="1082009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>
                <a:solidFill>
                  <a:srgbClr val="F1F5F9"/>
                </a:solidFill>
                <a:latin typeface="Helvetica"/>
              </a:defRPr>
            </a:pPr>
            <a:r>
              <a:t>Caso de Uso Principal: Gestión de Admisión y Videoconferencia en Tiempo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0"/>
            <a:ext cx="1082009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Helvetica"/>
              </a:defRPr>
            </a:pPr>
            <a:r>
              <a:t>Expositores: Marco Huanca, Jonathan Leon, Jeanpier Robles</a:t>
            </a:r>
            <a:br/>
            <a:r>
              <a:t>Curso: Lenguaje de Programación II (SW403-U)</a:t>
            </a:r>
            <a:br/>
            <a:r>
              <a:t>Universidad Nacional de Ingeniería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1. Introducción al Caso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Integración Completa: Conecta el cliente visual Swing, el protocolo por sockets, el pool concurrente del servidor y la base de datos Supabase.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Gestión de Estados: Modela la transición interactiva desde la solicitud en espera hasta la videoconferencia activa.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Regla de Oro de Seguridad: Demuestra la contención de persistencia en el backend sin exponer accesos JDBC en el cliente.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Marco Huanca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2. Regla de Oro: Aislamiento de Persistencia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Principio: El cliente Swing jamás se conecta directamente a PostgreSQL (Supabase) ni maneja credenciales de la BD.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Flujo de Datos Seguro: Toda consulta de moderación, chat o archivos viaja cifrada en tramas JSON por sockets TCP.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Middleware Servidor: El servidor de sockets ejecuta las consultas y el hashing de contraseñas de manera centralizada.</a:t>
            </a:r>
          </a:p>
        </p:txBody>
      </p:sp>
      <p:pic>
        <p:nvPicPr>
          <p:cNvPr id="4" name="Picture 3" descr="vista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78015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Marco Huanca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3. Diagrama de Casos de Uso (UML General)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Actor Anfitrión (Host): Puede Crear Sala, Moderar Invitados (Admitir/Rechazar), Iniciar Reunión Oficial y transmitir Video/Chat.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Actor Invitado (Guest): Puede Unirse con Código, esperar admisión y transmitir Video/Chat una vez admitido.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Servidor de Sockets: Orquesta de manera centralizada la validación e intercambio de tramas de todos los participantes.</a:t>
            </a:r>
          </a:p>
        </p:txBody>
      </p:sp>
      <p:pic>
        <p:nvPicPr>
          <p:cNvPr id="4" name="Picture 3" descr="casos_de_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4735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Marco Huanca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4. El Protocolo: Tramas JSON sobre Sockets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Estructura Base (MensajeSocket): Contrato común unificado para agrupar metadatos del transporte.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type: Identificador de acción (JOIN_ROOM_REQUEST, ADMIT_USER, MEETING_STARTED, etc.).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roomCode: Código de 6 dígitos que identifica la reunión activa.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userId y userName: Identificación del emisor.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message: Payload de datos (texto, chunk Base64 o comandos).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Jonathan Leon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5. Diagrama de Secuencia: Admisión y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Handshake de Unión: Invitado envía JOIN_ROOM_REQUEST; el servidor registra estado PENDIENTE en Supabase.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Notificación y Moderación: Servidor envía WAITING_ROOM_UPDATE al Host; Host responde con ADMIT_USER (ACCEPTED).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Inicio de Sesión: Host envía START_MEETING_REQUEST; el servidor difunde MEETING_STARTED, conmutando a ambos a REUNION.</a:t>
            </a:r>
          </a:p>
        </p:txBody>
      </p:sp>
      <p:pic>
        <p:nvPicPr>
          <p:cNvPr id="4" name="Picture 3" descr="secu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Jonathan Leon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6. Diagrama de Actividades: Flujo del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5303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Inicio: Validación de login y registro en Supabase con hash SHA-256.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Bifurcación de Roles: Host genera código y abre sala de espera; Invitado introduce código y espera en cola.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Reunión Activa: Concurrencia de hilos para chat, cámara (webcam física/fallbacks) y compartición de archivos en Base64.</a:t>
            </a:r>
          </a:p>
        </p:txBody>
      </p:sp>
      <p:pic>
        <p:nvPicPr>
          <p:cNvPr id="4" name="Picture 3" descr="activid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Jonathan Leon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7. Diagrama de Estados (CardLayout de Pantallas)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SELECTOR: Panel inicial para login y selección de acción (Crear o Unirse).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HOST_WAITING: Panel exclusivo del Host con la lista de solicitudes pendientes en tiempo real.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GUEST_PENDING: Pantalla de bloqueo del invitado mientras espera la decisión del Host.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REUNION: Panel unificado con chat activo, grid de cámaras y panel de archivos.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Jonathan Leon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8. Patrones de Diseño en la Admisión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Singleton (ClienteConexion): Garantiza una sola instancia de conexión física abierta.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Bridge (ProtocolBridge): Desacopla la red física de la serialización JSON (con biblioteca Gson).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Proxy de Persistencia (DBProxy): Inicialización diferida (Lazy Loading) de Supabase y auditoría (Logging Proxy).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Proxy de Cámara (CameraProxy): Fallback automático transparente a cámara simulada si falla el hardware.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Jeanpier Robles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9. Arquitectura de Hilos (Swing EDT vs Red)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Conflicto de Bloqueo: El hilo gráfico (EDT) es monocanal y no debe realizar operaciones de red bloqueantes.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Solución Asíncrona: HiloEscuchaCliente lee de red en segundo plano y empuja cambios con SwingUtilities.invokeLater().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Decodificación Concurrente: Pool de hilos daemon (videoDecoderExecutor) para decodificar Base64 de forma asíncrona.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Jeanpier Robles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Helvetica"/>
              </a:defRPr>
            </a:pPr>
            <a:r>
              <a:t>10. Tolerancia a Fallos y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Limpieza de Desconexiones: Servidor captura I/O exceptions, cierra sockets, actualiza Supabase a SALIÓ y limpia frames de video.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Conclusiones: El uso de Sockets TCP nativos proporciona control a bajo nivel sobre hilos y streams.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Helvetica"/>
              </a:defRPr>
            </a:pPr>
            <a:r>
              <a:t>•  Modularidad: La combinación de patrones de diseño dota al sistema de robustez y seguridad a nivel industrial.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035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64748B"/>
                </a:solidFill>
                <a:latin typeface="Helvetica"/>
              </a:defRPr>
            </a:pPr>
            <a:r>
              <a:t>Expositor: Jeanpier Robles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